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  <p:sldId id="256" r:id="rId5"/>
    <p:sldId id="261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3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ИИ</a:t>
            </a:r>
            <a:r>
              <a:rPr lang="ru-RU" baseline="0" dirty="0"/>
              <a:t> В УЧЕБЕ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ИИ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Школьники</c:v>
                </c:pt>
                <c:pt idx="1">
                  <c:v>Студенты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62</c:v>
                </c:pt>
                <c:pt idx="1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6-47FA-99EC-202E0464118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НЕ ИИ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Школьники</c:v>
                </c:pt>
                <c:pt idx="1">
                  <c:v>Студенты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38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06-47FA-99EC-202E046411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0455760"/>
        <c:axId val="620458672"/>
      </c:barChart>
      <c:catAx>
        <c:axId val="620455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20458672"/>
        <c:crosses val="autoZero"/>
        <c:auto val="1"/>
        <c:lblAlgn val="ctr"/>
        <c:lblOffset val="100"/>
        <c:noMultiLvlLbl val="0"/>
      </c:catAx>
      <c:valAx>
        <c:axId val="620458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20455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Население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cat>
            <c:strRef>
              <c:f>Лист1!$A$2:$A$7</c:f>
              <c:strCache>
                <c:ptCount val="5"/>
                <c:pt idx="0">
                  <c:v>4-9 лет</c:v>
                </c:pt>
                <c:pt idx="1">
                  <c:v>10-14 лет</c:v>
                </c:pt>
                <c:pt idx="2">
                  <c:v>15-19 лет</c:v>
                </c:pt>
                <c:pt idx="3">
                  <c:v>20-24 лет</c:v>
                </c:pt>
                <c:pt idx="4">
                  <c:v>Остальные</c:v>
                </c:pt>
              </c:strCache>
            </c:strRef>
          </c:cat>
          <c:val>
            <c:numRef>
              <c:f>Лист1!$B$2:$B$7</c:f>
              <c:numCache>
                <c:formatCode>General</c:formatCode>
                <c:ptCount val="6"/>
                <c:pt idx="0">
                  <c:v>9.1</c:v>
                </c:pt>
                <c:pt idx="1">
                  <c:v>8.1999999999999993</c:v>
                </c:pt>
                <c:pt idx="2">
                  <c:v>6.5</c:v>
                </c:pt>
                <c:pt idx="3">
                  <c:v>7.2</c:v>
                </c:pt>
                <c:pt idx="4">
                  <c:v>110.2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3B-473F-B17C-0DC10E4119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5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аудитория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Население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4-14 лет</c:v>
                </c:pt>
                <c:pt idx="1">
                  <c:v>15-19 лет</c:v>
                </c:pt>
                <c:pt idx="2">
                  <c:v>20-24 лет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17.3</c:v>
                </c:pt>
                <c:pt idx="1">
                  <c:v>6.5</c:v>
                </c:pt>
                <c:pt idx="2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F28-4022-90D9-3821FA6CF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778671872"/>
        <c:axId val="778668960"/>
      </c:barChart>
      <c:catAx>
        <c:axId val="778671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78668960"/>
        <c:auto val="1"/>
        <c:lblAlgn val="ctr"/>
        <c:lblOffset val="100"/>
        <c:noMultiLvlLbl val="0"/>
      </c:catAx>
      <c:valAx>
        <c:axId val="778668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78671872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D2FB38-AB44-4298-ADA9-2FE10B5B8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4B696B-8CED-4F92-A156-E54DA4048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A90AF2-7CC8-47D8-BED5-F17135E61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179B-B654-479E-A699-3F8C17F5BA98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7C2E5E-9E2F-42AE-9FF7-77F7292D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8B9D58-2C78-4A74-8FA0-EC8E9DE46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223C1-5250-4E41-AD71-B4BE3B00F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59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D76D93-0D86-4588-8036-358606CA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F94C9D-9F84-4CF5-AC5D-238EBE5D7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13D135-6D40-4C53-AE63-D6B5684F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179B-B654-479E-A699-3F8C17F5BA98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436F8E-7285-41DE-8055-88B78F8C3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967828-EEBE-4B53-BC39-22B119FAA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223C1-5250-4E41-AD71-B4BE3B00F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365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E4633A-D2FA-49C6-A9C4-2452E2432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D4A725-B23D-4837-9B42-6FF470AE2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2F9204-E6AC-455A-B6DD-6100BA1F0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179B-B654-479E-A699-3F8C17F5BA98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84A913-7D65-4698-8F3F-396D4ED04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BB206A-277F-4B3E-97C5-C4EED4BF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223C1-5250-4E41-AD71-B4BE3B00F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666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9FA94-7898-4E75-A414-97771095E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59E1B7-BA7D-4544-8DE7-ECFCEBA9A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AE2C51-4DF5-4D23-9472-2F68CF502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5D17D2-F671-4A5C-A97B-1284D0C42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179B-B654-479E-A699-3F8C17F5BA98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9E5B9D-9EC7-4ABB-B871-AC63C3E2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B36429-1DD8-4E76-8C47-43E06E297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223C1-5250-4E41-AD71-B4BE3B00F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718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0F7C89-C4DB-4790-9B45-7A4F855B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8A7D91-E6F1-4FE9-A0D0-D8A633FEA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871D35-2430-4EED-989D-28BA646FC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1B4FDA0-7ACA-4671-8DCF-4AD9DFE42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5A52B9E-7816-45E4-A82E-8E05C09EE9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87C4324-D0F9-44A3-9331-860267018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179B-B654-479E-A699-3F8C17F5BA98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65190E-BC27-4ABD-AF26-2ACD4845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1484478-2408-44D4-861A-F4DC930D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223C1-5250-4E41-AD71-B4BE3B00F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49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EE079-2A04-4E2D-9373-752316E3F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391AFFD-8600-49AA-A43D-B2FEF860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179B-B654-479E-A699-3F8C17F5BA98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237069-D37C-4127-ACE5-74D8B2A1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1D983E-6020-4507-B9E0-87336A75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223C1-5250-4E41-AD71-B4BE3B00F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07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3ED09-2FAF-4405-9774-E7DAFE06E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179B-B654-479E-A699-3F8C17F5BA98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4396CAF-1E9F-4906-9FB4-04BC2CC8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9396C7-3944-4B1C-B108-5AF08894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223C1-5250-4E41-AD71-B4BE3B00F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121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CD789-7E22-4E8B-B5F9-AF539F1F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0D83F0-A11E-456B-AFBC-4C7B2AC5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8527CF-6513-42C1-B881-496F17C86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9CC9EC-95F2-45A2-9C0C-71FF719D7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179B-B654-479E-A699-3F8C17F5BA98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6713F5-672F-47FC-B8A6-5FE4AE64E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A8B2ED-C63D-4E1E-B39A-B1C415608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223C1-5250-4E41-AD71-B4BE3B00F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71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42238-30E8-4D49-B9AF-A3B6E64B2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5EB910C-81D0-4F16-869E-D7B65F0715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646774-BB8E-4D79-9E28-328324C5B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5839FB-F4AF-4B3F-B9DC-FC70AA442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179B-B654-479E-A699-3F8C17F5BA98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9048124-94DC-4F5B-B1B8-2489B070E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2F3F63-F22F-4536-B5D5-A56DAC7C5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223C1-5250-4E41-AD71-B4BE3B00F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868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706EC1-2A2F-40DB-947A-05C5B4DE0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A34223-3092-4966-9988-83C1A649F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2931DD-EEF4-4876-923D-0199C064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179B-B654-479E-A699-3F8C17F5BA98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DCC43A-7631-4274-8E28-0F7C67E0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76140A-D6F1-4F02-9B6F-9ACFB8E0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223C1-5250-4E41-AD71-B4BE3B00F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61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C100A6-AF8C-446E-BB24-DCF40E489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69D550-E93D-4F18-AAE9-969B916A3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DF8CB8-92CE-416F-8BFD-7A19FCD0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179B-B654-479E-A699-3F8C17F5BA98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A14AEA-BD1F-44D6-8902-F971311F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B9407D-D8F7-4216-9287-94BDFFC84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223C1-5250-4E41-AD71-B4BE3B00F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622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286D77-AD98-41C6-B8EC-95CD3042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E81A4D-4BE5-473F-B48D-45A24D286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448680-944A-4D7C-BB7B-C2B64A876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C179B-B654-479E-A699-3F8C17F5BA98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258B85-25A7-43E0-9CBD-48FC0E5EA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AE3A05-3A22-4049-95CE-F683B0885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223C1-5250-4E41-AD71-B4BE3B00FD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41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ky.pro/wiki/analytics/skolko-lyudej-v-rossii-polzuyutsya-internetom-statistika-i-fakty/" TargetMode="External"/><Relationship Id="rId2" Type="http://schemas.openxmlformats.org/officeDocument/2006/relationships/hyperlink" Target="https://ru.wikipedia.org/wiki/&#1053;&#1072;&#1089;&#1077;&#1083;&#1077;&#1085;&#1080;&#1077;_&#1056;&#1086;&#1089;&#1089;&#1080;&#1080;?ysclid=mmdcfgsbg175645342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azeta.ru/social/news/2025/09/12/26715332.s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5D855B-4A1F-4E11-B455-FF83979EF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975" y="2310527"/>
            <a:ext cx="10515600" cy="1325563"/>
          </a:xfrm>
        </p:spPr>
        <p:txBody>
          <a:bodyPr/>
          <a:lstStyle/>
          <a:p>
            <a:r>
              <a:rPr lang="ru-RU" dirty="0"/>
              <a:t>Заинтересованность молодого поколения  во время учебного процесса в РФ</a:t>
            </a:r>
          </a:p>
        </p:txBody>
      </p:sp>
    </p:spTree>
    <p:extLst>
      <p:ext uri="{BB962C8B-B14F-4D97-AF65-F5344CB8AC3E}">
        <p14:creationId xmlns:p14="http://schemas.microsoft.com/office/powerpoint/2010/main" val="4164362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10">
            <a:extLst>
              <a:ext uri="{FF2B5EF4-FFF2-40B4-BE49-F238E27FC236}">
                <a16:creationId xmlns:a16="http://schemas.microsoft.com/office/drawing/2014/main" id="{D8D0329A-5E74-42D5-A9D8-77C6694E4A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8147333"/>
              </p:ext>
            </p:extLst>
          </p:nvPr>
        </p:nvGraphicFramePr>
        <p:xfrm>
          <a:off x="838200" y="1253331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161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3A49E2-BC96-4A6D-96D6-DF7484200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729"/>
            <a:ext cx="12192000" cy="420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30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952B9B4-8E4F-427D-AECD-1AF641EAF1E8}"/>
              </a:ext>
            </a:extLst>
          </p:cNvPr>
          <p:cNvSpPr txBox="1"/>
          <p:nvPr/>
        </p:nvSpPr>
        <p:spPr>
          <a:xfrm>
            <a:off x="135012" y="122739"/>
            <a:ext cx="1920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1% без интернета</a:t>
            </a:r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D734CAAE-001F-4E83-9CD0-A01E93DD26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128376"/>
              </p:ext>
            </p:extLst>
          </p:nvPr>
        </p:nvGraphicFramePr>
        <p:xfrm>
          <a:off x="1875638" y="615425"/>
          <a:ext cx="8440724" cy="5627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66988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39234C7D-CCFD-40D3-8533-47408E9F21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279561"/>
              </p:ext>
            </p:extLst>
          </p:nvPr>
        </p:nvGraphicFramePr>
        <p:xfrm>
          <a:off x="1875638" y="615425"/>
          <a:ext cx="8440724" cy="5627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710EA0B-404D-4DBD-972E-FBB959605F30}"/>
              </a:ext>
            </a:extLst>
          </p:cNvPr>
          <p:cNvSpPr txBox="1"/>
          <p:nvPr/>
        </p:nvSpPr>
        <p:spPr>
          <a:xfrm>
            <a:off x="2970266" y="6242575"/>
            <a:ext cx="6466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17</a:t>
            </a:r>
            <a:r>
              <a:rPr lang="en-US" dirty="0"/>
              <a:t>,3</a:t>
            </a:r>
            <a:r>
              <a:rPr lang="ru-RU" dirty="0" err="1"/>
              <a:t>кк</a:t>
            </a:r>
            <a:r>
              <a:rPr lang="en-US" dirty="0"/>
              <a:t> x </a:t>
            </a:r>
            <a:r>
              <a:rPr lang="ru-RU" dirty="0"/>
              <a:t>2 х 3х 365 = 37887кк если пользуется каждый школьник</a:t>
            </a:r>
          </a:p>
        </p:txBody>
      </p:sp>
    </p:spTree>
    <p:extLst>
      <p:ext uri="{BB962C8B-B14F-4D97-AF65-F5344CB8AC3E}">
        <p14:creationId xmlns:p14="http://schemas.microsoft.com/office/powerpoint/2010/main" val="2019270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56E5DB-772F-489E-9502-E55A5E6FD505}"/>
              </a:ext>
            </a:extLst>
          </p:cNvPr>
          <p:cNvSpPr txBox="1"/>
          <p:nvPr/>
        </p:nvSpPr>
        <p:spPr>
          <a:xfrm>
            <a:off x="1704528" y="4899348"/>
            <a:ext cx="119071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2"/>
              </a:rPr>
              <a:t>https://ru.wikipedia.org/wiki/Население_России?ysclid=mmdcfgsbg1756453424</a:t>
            </a:r>
            <a:endParaRPr lang="ru-RU" dirty="0"/>
          </a:p>
          <a:p>
            <a:r>
              <a:rPr lang="en-US" dirty="0">
                <a:hlinkClick r:id="rId3"/>
              </a:rPr>
              <a:t>https://sky.pro/wiki/analytics/skolko-lyudej-v-rossii-polzuyutsya-internetom-statistika-i-fakty/</a:t>
            </a:r>
            <a:endParaRPr lang="ru-RU" dirty="0"/>
          </a:p>
          <a:p>
            <a:r>
              <a:rPr lang="en-US" dirty="0">
                <a:hlinkClick r:id="rId4"/>
              </a:rPr>
              <a:t>https://www.gazeta.ru/social/news/2025/09/12/26715332.shtml</a:t>
            </a:r>
            <a:endParaRPr lang="ru-RU" dirty="0"/>
          </a:p>
          <a:p>
            <a:r>
              <a:rPr lang="en-US" dirty="0"/>
              <a:t>https://finuslugi.ru/navigator/news/novosti_bankovskoj_otrasli/62_shkolnikov_uzhe_ispolzuyut_ii_v_uchebe__issledovanie_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93206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108</Words>
  <Application>Microsoft Office PowerPoint</Application>
  <PresentationFormat>Широкоэкранный</PresentationFormat>
  <Paragraphs>10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Заинтересованность молодого поколения  во время учебного процесса в РФ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Дарья Коржевина</dc:creator>
  <cp:lastModifiedBy>Дарья Коржевина</cp:lastModifiedBy>
  <cp:revision>8</cp:revision>
  <dcterms:created xsi:type="dcterms:W3CDTF">2026-03-05T10:57:48Z</dcterms:created>
  <dcterms:modified xsi:type="dcterms:W3CDTF">2026-03-05T12:35:35Z</dcterms:modified>
</cp:coreProperties>
</file>